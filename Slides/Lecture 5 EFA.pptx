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4" r:id="rId1"/>
  </p:sldMasterIdLst>
  <p:notesMasterIdLst>
    <p:notesMasterId r:id="rId51"/>
  </p:notesMasterIdLst>
  <p:sldIdLst>
    <p:sldId id="257" r:id="rId2"/>
    <p:sldId id="258" r:id="rId3"/>
    <p:sldId id="294" r:id="rId4"/>
    <p:sldId id="259" r:id="rId5"/>
    <p:sldId id="295" r:id="rId6"/>
    <p:sldId id="261" r:id="rId7"/>
    <p:sldId id="260" r:id="rId8"/>
    <p:sldId id="262" r:id="rId9"/>
    <p:sldId id="263" r:id="rId10"/>
    <p:sldId id="292" r:id="rId11"/>
    <p:sldId id="264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4" r:id="rId20"/>
    <p:sldId id="305" r:id="rId21"/>
    <p:sldId id="303" r:id="rId22"/>
    <p:sldId id="265" r:id="rId23"/>
    <p:sldId id="293" r:id="rId24"/>
    <p:sldId id="306" r:id="rId25"/>
    <p:sldId id="266" r:id="rId26"/>
    <p:sldId id="307" r:id="rId27"/>
    <p:sldId id="308" r:id="rId28"/>
    <p:sldId id="267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8" r:id="rId37"/>
    <p:sldId id="279" r:id="rId38"/>
    <p:sldId id="280" r:id="rId39"/>
    <p:sldId id="281" r:id="rId40"/>
    <p:sldId id="282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310" r:id="rId5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E77"/>
    <a:srgbClr val="1A2286"/>
    <a:srgbClr val="1B238D"/>
    <a:srgbClr val="1F28A1"/>
    <a:srgbClr val="000066"/>
    <a:srgbClr val="FFFF00"/>
    <a:srgbClr val="FF0066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80658" autoAdjust="0"/>
  </p:normalViewPr>
  <p:slideViewPr>
    <p:cSldViewPr snapToGrid="0">
      <p:cViewPr varScale="1">
        <p:scale>
          <a:sx n="66" d="100"/>
          <a:sy n="66" d="100"/>
        </p:scale>
        <p:origin x="1301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7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7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FA4BE742-F341-9148-A94E-C374EDF983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2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35ED09-34E2-4804-B025-A5AF16BAD197}" type="slidenum">
              <a:rPr lang="en-US"/>
              <a:pPr/>
              <a:t>2</a:t>
            </a:fld>
            <a:endParaRPr lang="en-US"/>
          </a:p>
        </p:txBody>
      </p:sp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19B0F2-DC3A-4FC5-9045-5ABCB903D142}" type="slidenum">
              <a:rPr lang="en-US"/>
              <a:pPr/>
              <a:t>4</a:t>
            </a:fld>
            <a:endParaRPr 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19B0F2-DC3A-4FC5-9045-5ABCB903D142}" type="slidenum">
              <a:rPr lang="en-US"/>
              <a:pPr/>
              <a:t>5</a:t>
            </a:fld>
            <a:endParaRPr lang="en-US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881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368DD8-158E-46CB-A7EB-C98DAE897983}" type="slidenum">
              <a:rPr lang="en-US"/>
              <a:pPr/>
              <a:t>6</a:t>
            </a:fld>
            <a:endParaRPr 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87DB44-8210-4FEC-A575-58BF856DDA10}" type="slidenum">
              <a:rPr lang="en-US"/>
              <a:pPr/>
              <a:t>7</a:t>
            </a:fld>
            <a:endParaRPr lang="en-US"/>
          </a:p>
        </p:txBody>
      </p:sp>
      <p:sp>
        <p:nvSpPr>
          <p:cNvPr id="141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C4C0AB-E584-4470-8DAE-0241CAE0CA03}" type="slidenum">
              <a:rPr lang="en-US"/>
              <a:pPr/>
              <a:t>8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For</a:t>
            </a:r>
            <a:r>
              <a:rPr lang="en-US" baseline="0" dirty="0"/>
              <a:t> both factor the axis range from -1 to +1. the position a variable is on depends on its correlation coefficient. Grouped together higher correlation; apart a different factor. Diagram shows 2 factors sociability and consideration.</a:t>
            </a:r>
            <a:endParaRPr lang="en-MY" dirty="0"/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407CC3-58E2-4775-86EE-91519B194017}" type="slidenum">
              <a:rPr lang="en-US"/>
              <a:pPr/>
              <a:t>9</a:t>
            </a:fld>
            <a:endParaRPr lang="en-US"/>
          </a:p>
        </p:txBody>
      </p:sp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b with those value from</a:t>
            </a:r>
            <a:r>
              <a:rPr lang="en-US" baseline="0" dirty="0"/>
              <a:t> the factor plot. When b values are very low (close to 0), this means the factor is not very important.</a:t>
            </a:r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BEADBB-5F07-4F56-A434-4C7D721C3850}" type="slidenum">
              <a:rPr lang="en-US"/>
              <a:pPr/>
              <a:t>11</a:t>
            </a:fld>
            <a:endParaRPr lang="en-US"/>
          </a:p>
        </p:txBody>
      </p:sp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Exploring</a:t>
            </a:r>
            <a:r>
              <a:rPr lang="en-US" baseline="0" dirty="0"/>
              <a:t> data to generate future hypotheses.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E7EFC-2944-4694-A3C0-C112CD79AD0A}" type="slidenum">
              <a:rPr lang="en-MY" smtClean="0"/>
              <a:pPr/>
              <a:t>13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31099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Two approaches</a:t>
            </a:r>
            <a:r>
              <a:rPr lang="en-US" baseline="0" dirty="0"/>
              <a:t> to find underlying dimensions of a data set.</a:t>
            </a:r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Differ in the communality estimates that are used</a:t>
            </a:r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US" baseline="0" dirty="0"/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E7EFC-2944-4694-A3C0-C112CD79AD0A}" type="slidenum">
              <a:rPr lang="en-MY" smtClean="0"/>
              <a:pPr/>
              <a:t>14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217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Orthogonal – unrelated. Factors</a:t>
            </a:r>
            <a:r>
              <a:rPr lang="en-US" baseline="0" dirty="0"/>
              <a:t> are kept independent (uncorrelated)</a:t>
            </a:r>
          </a:p>
          <a:p>
            <a:r>
              <a:rPr lang="en-US" dirty="0"/>
              <a:t>Oblique – factors are allowed to correlate.</a:t>
            </a:r>
          </a:p>
          <a:p>
            <a:r>
              <a:rPr lang="en-US" dirty="0"/>
              <a:t>Which you choose depends on theoretical reasons.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E7EFC-2944-4694-A3C0-C112CD79AD0A}" type="slidenum">
              <a:rPr lang="en-MY" smtClean="0"/>
              <a:pPr/>
              <a:t>18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7575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6428F5-26E9-41CF-B386-3D09421A809F}" type="slidenum">
              <a:rPr lang="en-US"/>
              <a:pPr/>
              <a:t>22</a:t>
            </a:fld>
            <a:endParaRPr lang="en-US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3BAD09-BA63-42BF-93D7-D4B53B83A89A}" type="slidenum">
              <a:rPr lang="en-US"/>
              <a:pPr/>
              <a:t>24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781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3BAD09-BA63-42BF-93D7-D4B53B83A89A}" type="slidenum">
              <a:rPr lang="en-US"/>
              <a:pPr/>
              <a:t>25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Correlations between variables</a:t>
            </a:r>
          </a:p>
          <a:p>
            <a:pPr lvl="1"/>
            <a:r>
              <a:rPr lang="en-US" dirty="0"/>
              <a:t>Problem: too low (&lt;.3) or too high (&gt;.8)</a:t>
            </a:r>
          </a:p>
          <a:p>
            <a:pPr lvl="1"/>
            <a:r>
              <a:rPr lang="en-US" dirty="0" err="1"/>
              <a:t>Barlett’s</a:t>
            </a:r>
            <a:r>
              <a:rPr lang="en-US" dirty="0"/>
              <a:t> test – testing if correlation matric is significantly different from identity matrix- want this to be significant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3BAD09-BA63-42BF-93D7-D4B53B83A89A}" type="slidenum">
              <a:rPr lang="en-US"/>
              <a:pPr/>
              <a:t>26</a:t>
            </a:fld>
            <a:endParaRPr lang="en-US"/>
          </a:p>
        </p:txBody>
      </p:sp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7209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62B18B-1F56-4369-AEAE-6212FE73DDB4}" type="slidenum">
              <a:rPr lang="en-US"/>
              <a:pPr/>
              <a:t>28</a:t>
            </a:fld>
            <a:endParaRPr lang="en-US"/>
          </a:p>
        </p:txBody>
      </p:sp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52D87F-566E-48F8-BD81-93AE194A3336}" type="slidenum">
              <a:rPr lang="en-US"/>
              <a:pPr/>
              <a:t>29</a:t>
            </a:fld>
            <a:endParaRPr lang="en-US"/>
          </a:p>
        </p:txBody>
      </p:sp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CA2336-50CD-40E8-9DC9-24394374E81D}" type="slidenum">
              <a:rPr lang="en-US"/>
              <a:pPr/>
              <a:t>30</a:t>
            </a:fld>
            <a:endParaRPr lang="en-US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A7C08A-F5C4-425A-8242-9C90CE254444}" type="slidenum">
              <a:rPr lang="en-US"/>
              <a:pPr/>
              <a:t>31</a:t>
            </a:fld>
            <a:endParaRPr lang="en-US"/>
          </a:p>
        </p:txBody>
      </p:sp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5ECEA9-322B-4846-A620-0B05BA6E6775}" type="slidenum">
              <a:rPr lang="en-US"/>
              <a:pPr/>
              <a:t>32</a:t>
            </a:fld>
            <a:endParaRPr lang="en-US"/>
          </a:p>
        </p:txBody>
      </p:sp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6D2B89-CA6A-4156-B085-170AA436068E}" type="slidenum">
              <a:rPr lang="en-US"/>
              <a:pPr/>
              <a:t>33</a:t>
            </a:fld>
            <a:endParaRPr lang="en-US"/>
          </a:p>
        </p:txBody>
      </p:sp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E58F84-1158-4E37-81EF-9238C899757C}" type="slidenum">
              <a:rPr lang="en-US"/>
              <a:pPr/>
              <a:t>34</a:t>
            </a:fld>
            <a:endParaRPr lang="en-US"/>
          </a:p>
        </p:txBody>
      </p:sp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9BD29C-94CC-4DC4-8392-440F653066DC}" type="slidenum">
              <a:rPr lang="en-US"/>
              <a:pPr/>
              <a:t>35</a:t>
            </a:fld>
            <a:endParaRPr lang="en-US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601444-1F6B-4E41-81A0-BD462B8A5B7C}" type="slidenum">
              <a:rPr lang="en-US"/>
              <a:pPr/>
              <a:t>36</a:t>
            </a:fld>
            <a:endParaRPr lang="en-US"/>
          </a:p>
        </p:txBody>
      </p:sp>
      <p:sp>
        <p:nvSpPr>
          <p:cNvPr id="222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2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05DB10-4C96-459E-8CFF-4810BECC3612}" type="slidenum">
              <a:rPr lang="en-US"/>
              <a:pPr/>
              <a:t>37</a:t>
            </a:fld>
            <a:endParaRPr lang="en-US"/>
          </a:p>
        </p:txBody>
      </p:sp>
      <p:sp>
        <p:nvSpPr>
          <p:cNvPr id="221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C58229-8D21-474B-A8D8-F469E5F80C8E}" type="slidenum">
              <a:rPr lang="en-US"/>
              <a:pPr/>
              <a:t>38</a:t>
            </a:fld>
            <a:endParaRPr lang="en-US"/>
          </a:p>
        </p:txBody>
      </p:sp>
      <p:sp>
        <p:nvSpPr>
          <p:cNvPr id="220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0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CB0469-331F-4D25-A9DF-BDC5021A8945}" type="slidenum">
              <a:rPr lang="en-US"/>
              <a:pPr/>
              <a:t>39</a:t>
            </a:fld>
            <a:endParaRPr lang="en-US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9DB062-A6BD-4842-933D-CA7D1F25386C}" type="slidenum">
              <a:rPr lang="en-US"/>
              <a:pPr/>
              <a:t>40</a:t>
            </a:fld>
            <a:endParaRPr lang="en-US"/>
          </a:p>
        </p:txBody>
      </p:sp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AC8DC7-44AF-49EC-A10F-46CBECB5A96A}" type="slidenum">
              <a:rPr lang="en-US"/>
              <a:pPr/>
              <a:t>41</a:t>
            </a:fld>
            <a:endParaRPr lang="en-US"/>
          </a:p>
        </p:txBody>
      </p:sp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marL="180194" indent="-180194"/>
            <a:endParaRPr lang="en-GB" dirty="0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D6D3EF-579C-48C2-B0D9-DB83B46E9E8C}" type="slidenum">
              <a:rPr lang="en-US"/>
              <a:pPr/>
              <a:t>42</a:t>
            </a:fld>
            <a:endParaRPr lang="en-US"/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marL="180194" indent="-180194"/>
            <a:endParaRPr lang="en-GB" dirty="0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BAC9B0-0439-4D13-ADCB-9CA98CE1DDD8}" type="slidenum">
              <a:rPr lang="en-US"/>
              <a:pPr/>
              <a:t>43</a:t>
            </a:fld>
            <a:endParaRPr lang="en-US"/>
          </a:p>
        </p:txBody>
      </p:sp>
      <p:sp>
        <p:nvSpPr>
          <p:cNvPr id="188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88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marL="180194" indent="-180194"/>
            <a:endParaRPr lang="en-GB" dirty="0">
              <a:cs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5A3EB-39A6-48B8-80B5-3505B7072CF1}" type="slidenum">
              <a:rPr lang="en-US"/>
              <a:pPr/>
              <a:t>44</a:t>
            </a:fld>
            <a:endParaRPr lang="en-US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84A303-41D5-4FB6-BF81-68F9EC7BBFD1}" type="slidenum">
              <a:rPr lang="en-US"/>
              <a:pPr/>
              <a:t>45</a:t>
            </a:fld>
            <a:endParaRPr lang="en-US"/>
          </a:p>
        </p:txBody>
      </p:sp>
      <p:sp>
        <p:nvSpPr>
          <p:cNvPr id="214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0B4146-5487-4396-A26A-3C9A968D87BC}" type="slidenum">
              <a:rPr lang="en-US"/>
              <a:pPr/>
              <a:t>46</a:t>
            </a:fld>
            <a:endParaRPr lang="en-US"/>
          </a:p>
        </p:txBody>
      </p:sp>
      <p:sp>
        <p:nvSpPr>
          <p:cNvPr id="21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0F948B-00FF-4081-BE08-54BF8C4AFFE7}" type="slidenum">
              <a:rPr lang="en-US"/>
              <a:pPr/>
              <a:t>47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46C682-04DE-41B3-816F-D54FF048B3F3}" type="slidenum">
              <a:rPr lang="en-US"/>
              <a:pPr/>
              <a:t>48</a:t>
            </a:fld>
            <a:endParaRPr lang="en-US"/>
          </a:p>
        </p:txBody>
      </p:sp>
      <p:sp>
        <p:nvSpPr>
          <p:cNvPr id="195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803400" y="685800"/>
            <a:ext cx="3251200" cy="1828800"/>
          </a:xfrm>
          <a:ln/>
        </p:spPr>
      </p:sp>
      <p:sp>
        <p:nvSpPr>
          <p:cNvPr id="19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099" y="2667001"/>
            <a:ext cx="5639097" cy="5790595"/>
          </a:xfrm>
        </p:spPr>
        <p:txBody>
          <a:bodyPr/>
          <a:lstStyle/>
          <a:p>
            <a:pPr algn="just"/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133" y="2130426"/>
            <a:ext cx="9787467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467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9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9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133" y="4406901"/>
            <a:ext cx="98361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133" y="2906713"/>
            <a:ext cx="9836151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1883" y="1600201"/>
            <a:ext cx="492971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2535" y="1600201"/>
            <a:ext cx="485986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6133" y="1535113"/>
            <a:ext cx="47603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133" y="2174875"/>
            <a:ext cx="47603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5467" y="1535113"/>
            <a:ext cx="50969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2400" y="2174875"/>
            <a:ext cx="5080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667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273051"/>
            <a:ext cx="64008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0667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5234" y="274639"/>
            <a:ext cx="2307167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51617" y="274639"/>
            <a:ext cx="6720416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2351618" y="274639"/>
            <a:ext cx="9230783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274638"/>
            <a:ext cx="1027853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03868" y="1600200"/>
            <a:ext cx="10278533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3868" y="3938589"/>
            <a:ext cx="10278533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1618" y="274638"/>
            <a:ext cx="9230783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51618" y="1600201"/>
            <a:ext cx="4512733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67552" y="1600201"/>
            <a:ext cx="4514849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381751"/>
            <a:ext cx="2844800" cy="339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1" y="274638"/>
            <a:ext cx="10058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Heading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40935" y="1600201"/>
            <a:ext cx="10041467" cy="452596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9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accent1">
              <a:lumMod val="50000"/>
            </a:schemeClr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Trebuchet MS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Trebuchet MS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Trebuchet MS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accent2">
              <a:lumMod val="75000"/>
            </a:schemeClr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accent1">
              <a:lumMod val="50000"/>
            </a:schemeClr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accent1">
              <a:lumMod val="50000"/>
            </a:schemeClr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accent1">
              <a:lumMod val="50000"/>
            </a:schemeClr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accent1">
              <a:lumMod val="50000"/>
            </a:schemeClr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Chapter 18: Exploratory factor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GB" sz="3600" dirty="0"/>
              <a:t>Explore Factor Analysis and Principal Component Analysis (PCA)</a:t>
            </a:r>
          </a:p>
          <a:p>
            <a:pPr>
              <a:lnSpc>
                <a:spcPct val="90000"/>
              </a:lnSpc>
            </a:pPr>
            <a:r>
              <a:rPr lang="en-GB" sz="3600" dirty="0"/>
              <a:t>What Are Factors?</a:t>
            </a:r>
          </a:p>
          <a:p>
            <a:pPr>
              <a:lnSpc>
                <a:spcPct val="90000"/>
              </a:lnSpc>
            </a:pPr>
            <a:r>
              <a:rPr lang="en-GB" sz="3600" dirty="0"/>
              <a:t>Representing Factors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Graphs and Equations</a:t>
            </a:r>
          </a:p>
          <a:p>
            <a:pPr>
              <a:lnSpc>
                <a:spcPct val="90000"/>
              </a:lnSpc>
            </a:pPr>
            <a:r>
              <a:rPr lang="en-GB" sz="3600" dirty="0"/>
              <a:t>Extracting factors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Methods and Criteria</a:t>
            </a:r>
          </a:p>
          <a:p>
            <a:pPr>
              <a:lnSpc>
                <a:spcPct val="90000"/>
              </a:lnSpc>
            </a:pPr>
            <a:r>
              <a:rPr lang="en-GB" sz="3600" dirty="0"/>
              <a:t>Interpreting Factor Structures</a:t>
            </a:r>
          </a:p>
          <a:p>
            <a:pPr lvl="1">
              <a:lnSpc>
                <a:spcPct val="90000"/>
              </a:lnSpc>
            </a:pPr>
            <a:r>
              <a:rPr lang="en-GB" sz="3200" dirty="0"/>
              <a:t>Factor Rotation</a:t>
            </a:r>
          </a:p>
          <a:p>
            <a:pPr>
              <a:lnSpc>
                <a:spcPct val="90000"/>
              </a:lnSpc>
            </a:pPr>
            <a:r>
              <a:rPr lang="en-GB" sz="3600" dirty="0"/>
              <a:t>Reliability</a:t>
            </a:r>
          </a:p>
          <a:p>
            <a:pPr lvl="1">
              <a:lnSpc>
                <a:spcPct val="90000"/>
              </a:lnSpc>
            </a:pPr>
            <a:r>
              <a:rPr lang="en-GB" dirty="0" err="1"/>
              <a:t>Cronbach’s</a:t>
            </a:r>
            <a:r>
              <a:rPr lang="en-GB" dirty="0"/>
              <a:t> alpha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7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7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7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6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7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 autoUpdateAnimBg="0"/>
      <p:bldP spid="137219" grpId="0" build="p" bldLvl="3" autoUpdateAnimBg="0" advAuto="200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Factor Analysis?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technique that identify groups or clusters of variables.</a:t>
            </a:r>
          </a:p>
          <a:p>
            <a:pPr lvl="1"/>
            <a:r>
              <a:rPr lang="en-US" dirty="0"/>
              <a:t>Reducing many variables to fewer variables</a:t>
            </a:r>
          </a:p>
          <a:p>
            <a:r>
              <a:rPr lang="en-US" dirty="0"/>
              <a:t>When to use factor analysis:</a:t>
            </a:r>
          </a:p>
          <a:p>
            <a:pPr lvl="1"/>
            <a:r>
              <a:rPr lang="en-US" dirty="0"/>
              <a:t>Not able to measure the construct (latent variable) directly but measure different aspects of the construct.</a:t>
            </a:r>
          </a:p>
          <a:p>
            <a:pPr lvl="1"/>
            <a:r>
              <a:rPr lang="en-US" dirty="0"/>
              <a:t>Use FA to show if these different variables are driven by the same underlying variable</a:t>
            </a:r>
          </a:p>
          <a:p>
            <a:pPr lvl="1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4355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When and Why?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To test for clusters of variables or measures.</a:t>
            </a:r>
          </a:p>
          <a:p>
            <a:pPr lvl="1"/>
            <a:r>
              <a:rPr lang="en-US" dirty="0"/>
              <a:t>To understand the structure of a set of variable</a:t>
            </a:r>
          </a:p>
          <a:p>
            <a:pPr lvl="2"/>
            <a:r>
              <a:rPr lang="en-US" dirty="0"/>
              <a:t>What is the structure of intelligence?</a:t>
            </a:r>
          </a:p>
          <a:p>
            <a:pPr lvl="1"/>
            <a:r>
              <a:rPr lang="en-US" dirty="0"/>
              <a:t>To construct a questionnaire to measure an underlying variable</a:t>
            </a:r>
          </a:p>
          <a:p>
            <a:pPr lvl="2"/>
            <a:r>
              <a:rPr lang="en-US" dirty="0"/>
              <a:t>How do you design a questionnaire to measure ‘love’?</a:t>
            </a:r>
          </a:p>
          <a:p>
            <a:pPr lvl="1"/>
            <a:r>
              <a:rPr lang="en-US" dirty="0"/>
              <a:t>To reduce a data set to a more manageable size while retaining as much of the original information as possible</a:t>
            </a:r>
          </a:p>
          <a:p>
            <a:pPr>
              <a:lnSpc>
                <a:spcPct val="90000"/>
              </a:lnSpc>
            </a:pPr>
            <a:r>
              <a:rPr lang="en-GB" dirty="0"/>
              <a:t>To see whether different measures are tapping aspects of a common dimension.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E.g. Anal-Retentiveness, Number of friends, and social skills might be aspects of the common dimension of ‘statistical ability’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8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8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8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8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  <p:bldP spid="13824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When and Why?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dirty="0"/>
              <a:t>To see whether different measures are tapping aspects of a common dimension.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E.g. Anal-Retentiveness, Number of friends, and social skills might be aspects of the common dimension of ‘statistical ability’</a:t>
            </a:r>
          </a:p>
        </p:txBody>
      </p:sp>
    </p:spTree>
    <p:extLst>
      <p:ext uri="{BB962C8B-B14F-4D97-AF65-F5344CB8AC3E}">
        <p14:creationId xmlns:p14="http://schemas.microsoft.com/office/powerpoint/2010/main" val="354456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  <p:bldP spid="13824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Factors and components</a:t>
            </a:r>
            <a:endParaRPr lang="en-GB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Factor analysis attempts to achieve parsimony by explaining the maximum amount of </a:t>
            </a:r>
            <a:r>
              <a:rPr lang="en-GB" sz="2800" i="1" dirty="0"/>
              <a:t>common variance </a:t>
            </a:r>
            <a:r>
              <a:rPr lang="en-GB" sz="2800" dirty="0"/>
              <a:t>in a correlation matrix using the smallest number of explanatory constructs.</a:t>
            </a:r>
          </a:p>
          <a:p>
            <a:pPr marL="914400" lvl="1" indent="-457200">
              <a:lnSpc>
                <a:spcPct val="90000"/>
              </a:lnSpc>
            </a:pPr>
            <a:r>
              <a:rPr lang="en-GB" dirty="0"/>
              <a:t>These ‘explanatory constructs’ are called </a:t>
            </a:r>
            <a:r>
              <a:rPr lang="en-GB" dirty="0">
                <a:solidFill>
                  <a:schemeClr val="accent2"/>
                </a:solidFill>
              </a:rPr>
              <a:t>factors.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sz="2800" dirty="0"/>
              <a:t>PCA tries to explain the maximum amount of </a:t>
            </a:r>
            <a:r>
              <a:rPr lang="en-GB" sz="2800" i="1" dirty="0"/>
              <a:t>total variance</a:t>
            </a:r>
            <a:r>
              <a:rPr lang="en-GB" sz="2800" dirty="0"/>
              <a:t> in a correlation matrix.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It does this by transforming the original variables into a set of linear </a:t>
            </a:r>
            <a:r>
              <a:rPr lang="en-GB" dirty="0">
                <a:solidFill>
                  <a:schemeClr val="accent2"/>
                </a:solidFill>
              </a:rPr>
              <a:t>components</a:t>
            </a:r>
            <a:r>
              <a:rPr lang="en-GB" dirty="0"/>
              <a:t>.</a:t>
            </a:r>
          </a:p>
          <a:p>
            <a:pPr lvl="1">
              <a:lnSpc>
                <a:spcPct val="90000"/>
              </a:lnSpc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utoUpdateAnimBg="0"/>
      <p:bldP spid="142339" grpId="0" build="p" autoUpdateAnimBg="0" advAuto="200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/>
              <a:t>R-Matrix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Factor Analysis and PCA we look to reduce the R-matrix into smaller set of uncorrelated dimensions.</a:t>
            </a:r>
          </a:p>
          <a:p>
            <a:endParaRPr lang="en-US" dirty="0"/>
          </a:p>
        </p:txBody>
      </p:sp>
      <p:sp>
        <p:nvSpPr>
          <p:cNvPr id="140293" name="Rectangle 5"/>
          <p:cNvSpPr>
            <a:spLocks noChangeArrowheads="1"/>
          </p:cNvSpPr>
          <p:nvPr/>
        </p:nvSpPr>
        <p:spPr bwMode="auto">
          <a:xfrm>
            <a:off x="2855913" y="4511675"/>
            <a:ext cx="720566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57200" indent="-457200">
              <a:spcBef>
                <a:spcPct val="20000"/>
              </a:spcBef>
              <a:buFont typeface="Arial"/>
              <a:buChar char="•"/>
            </a:pPr>
            <a:endParaRPr lang="en-GB" sz="3200" dirty="0">
              <a:solidFill>
                <a:srgbClr val="FF006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00" y="1451338"/>
            <a:ext cx="7040880" cy="2350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 autoUpdateAnimBg="0"/>
      <p:bldP spid="14029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668380" y="1600201"/>
            <a:ext cx="5195972" cy="4525963"/>
          </a:xfrm>
        </p:spPr>
        <p:txBody>
          <a:bodyPr/>
          <a:lstStyle/>
          <a:p>
            <a:r>
              <a:rPr lang="en-US" sz="2800" dirty="0"/>
              <a:t>Factors are identified by looking for variables that correlate highly with a group of other variables but do not correlate with variables not in the group.</a:t>
            </a:r>
          </a:p>
          <a:p>
            <a:r>
              <a:rPr lang="en-US" sz="2800" dirty="0"/>
              <a:t>The coordinate of a variable along a classification is known a factor loading. A Pearson correlation between a factor and a variable.</a:t>
            </a:r>
            <a:endParaRPr lang="en-MY" sz="2800" dirty="0"/>
          </a:p>
          <a:p>
            <a:endParaRPr lang="en-MY" sz="2800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50" y="1605756"/>
            <a:ext cx="4514850" cy="4514850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711451" y="228600"/>
            <a:ext cx="7700963" cy="1144588"/>
          </a:xfrm>
        </p:spPr>
        <p:txBody>
          <a:bodyPr/>
          <a:lstStyle/>
          <a:p>
            <a:r>
              <a:rPr lang="en-GB" dirty="0"/>
              <a:t>Mathematical representation: components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665792" y="2269300"/>
                <a:ext cx="441088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GB" sz="2400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 sz="240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>
                              <a:latin typeface="Cambria Math" charset="0"/>
                            </a:rPr>
                            <m:t>1</m:t>
                          </m:r>
                          <m:r>
                            <a:rPr lang="en-GB" sz="2400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 sz="240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>
                              <a:latin typeface="Cambria Math" charset="0"/>
                            </a:rPr>
                            <m:t>2</m:t>
                          </m:r>
                          <m:r>
                            <a:rPr lang="en-GB" sz="2400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 sz="2400">
                          <a:latin typeface="Cambria Math" charset="0"/>
                        </a:rPr>
                        <m:t>+⋯+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 i="1">
                              <a:latin typeface="Cambria Math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GB" sz="2400" i="1">
                              <a:latin typeface="Cambria Math" charset="0"/>
                            </a:rPr>
                            <m:t>𝑛𝑖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1791" y="2269299"/>
                <a:ext cx="4410887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361406" y="2929333"/>
                <a:ext cx="840105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>
                              <a:latin typeface="Cambria Math" charset="0"/>
                            </a:rPr>
                            <m:t>Component</m:t>
                          </m:r>
                        </m:e>
                        <m:sub>
                          <m:r>
                            <a:rPr lang="en-GB" sz="2400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 sz="2400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>
                              <a:latin typeface="Cambria Math" charset="0"/>
                            </a:rPr>
                            <m:t>Variable</m:t>
                          </m:r>
                        </m:e>
                        <m:sub>
                          <m:r>
                            <a:rPr lang="en-GB" sz="2400">
                              <a:latin typeface="Cambria Math" charset="0"/>
                            </a:rPr>
                            <m:t>1</m:t>
                          </m:r>
                          <m:r>
                            <a:rPr lang="en-GB" sz="2400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 sz="240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>
                              <a:latin typeface="Cambria Math" charset="0"/>
                            </a:rPr>
                            <m:t>Variable</m:t>
                          </m:r>
                        </m:e>
                        <m:sub>
                          <m:r>
                            <a:rPr lang="en-GB" sz="2400">
                              <a:latin typeface="Cambria Math" charset="0"/>
                            </a:rPr>
                            <m:t>2</m:t>
                          </m:r>
                          <m:r>
                            <a:rPr lang="en-GB" sz="2400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 sz="2400">
                          <a:latin typeface="Cambria Math" charset="0"/>
                        </a:rPr>
                        <m:t>+⋯+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 sz="2400" i="1">
                              <a:latin typeface="Cambria Math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400">
                              <a:latin typeface="Cambria Math" charset="0"/>
                            </a:rPr>
                            <m:t>Variable</m:t>
                          </m:r>
                        </m:e>
                        <m:sub>
                          <m:r>
                            <a:rPr lang="en-GB" sz="2400" i="1">
                              <a:latin typeface="Cambria Math" charset="0"/>
                            </a:rPr>
                            <m:t>𝑛𝑖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06" y="2929332"/>
                <a:ext cx="8401050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145" b="-14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56084" y="4285782"/>
                <a:ext cx="100584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/>
                            <m:t>Sociability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Talk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other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)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Social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Skills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Interest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charset="0"/>
                            </a:rPr>
                            <m:t>+ </m:t>
                          </m:r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Talk</m:t>
                          </m:r>
                          <m:r>
                            <m:rPr>
                              <m:nor/>
                            </m:rPr>
                            <a:rPr lang="en-GB" i="1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self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)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Selfish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Liar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6084" y="4285782"/>
                <a:ext cx="10058400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138989" y="5022759"/>
                <a:ext cx="1086050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/>
                            <m:t>inconsideration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Talk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other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)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Social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Skills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Interest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charset="0"/>
                            </a:rPr>
                            <m:t>+ </m:t>
                          </m:r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Talk</m:t>
                          </m:r>
                          <m:r>
                            <m:rPr>
                              <m:nor/>
                            </m:rPr>
                            <a:rPr lang="en-GB" i="1">
                              <a:latin typeface="Cambria Math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self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)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Selfish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GB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GB">
                              <a:latin typeface="Cambria Math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>
                              <a:latin typeface="Cambria Math" charset="0"/>
                            </a:rPr>
                            <m:t>Liar</m:t>
                          </m:r>
                        </m:e>
                        <m:sub>
                          <m:r>
                            <a:rPr lang="en-GB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989" y="5022759"/>
                <a:ext cx="10860505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606959" y="3625749"/>
            <a:ext cx="1960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i="1" dirty="0"/>
              <a:t>b = factor loading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Mathematical </a:t>
            </a:r>
            <a:r>
              <a:rPr lang="en-GB" dirty="0"/>
              <a:t>r</a:t>
            </a:r>
            <a:r>
              <a:rPr lang="en-GB"/>
              <a:t>epresentation</a:t>
            </a:r>
            <a:r>
              <a:rPr lang="en-GB" dirty="0"/>
              <a:t>: factors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factors in Factor Analysis are not represented in the same way as components.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912359"/>
              </p:ext>
            </p:extLst>
          </p:nvPr>
        </p:nvGraphicFramePr>
        <p:xfrm>
          <a:off x="4889500" y="3429000"/>
          <a:ext cx="32781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9000" imgH="203200" progId="Equation.3">
                  <p:embed/>
                </p:oleObj>
              </mc:Choice>
              <mc:Fallback>
                <p:oleObj name="Equation" r:id="rId2" imgW="889000" imgH="20320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89500" y="3429000"/>
                        <a:ext cx="3278188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13000" y="4521200"/>
            <a:ext cx="811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= Variable Means + (Loadings × Common Factor) + Unique Factor</a:t>
            </a:r>
          </a:p>
        </p:txBody>
      </p:sp>
    </p:spTree>
    <p:extLst>
      <p:ext uri="{BB962C8B-B14F-4D97-AF65-F5344CB8AC3E}">
        <p14:creationId xmlns:p14="http://schemas.microsoft.com/office/powerpoint/2010/main" val="2370871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/>
              <a:t>Factor Loadings</a:t>
            </a:r>
            <a:endParaRPr lang="en-GB"/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Both factor analysis and PCA are linear models in which loadings are used as weights.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These loadings can be expressed as a matrix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This matrix is called the factor matrix or component matrix (if doing PCA).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The assumption of factor analysis (but not PCA) is that these algebraic factors represent real-world dimensions.</a:t>
            </a:r>
          </a:p>
          <a:p>
            <a:pPr lvl="1">
              <a:lnSpc>
                <a:spcPct val="90000"/>
              </a:lnSpc>
            </a:pPr>
            <a:endParaRPr lang="en-GB" sz="2400" dirty="0"/>
          </a:p>
          <a:p>
            <a:pPr lvl="1">
              <a:lnSpc>
                <a:spcPct val="90000"/>
              </a:lnSpc>
            </a:pPr>
            <a:endParaRPr lang="en-GB" sz="2400" dirty="0"/>
          </a:p>
          <a:p>
            <a:pPr lvl="1">
              <a:lnSpc>
                <a:spcPct val="90000"/>
              </a:lnSpc>
            </a:pPr>
            <a:endParaRPr lang="en-GB" sz="2400" dirty="0"/>
          </a:p>
          <a:p>
            <a:pPr lvl="1">
              <a:lnSpc>
                <a:spcPct val="90000"/>
              </a:lnSpc>
            </a:pPr>
            <a:endParaRPr lang="en-GB" sz="2400" dirty="0"/>
          </a:p>
          <a:p>
            <a:pPr marL="457200" lvl="1" indent="0">
              <a:lnSpc>
                <a:spcPct val="90000"/>
              </a:lnSpc>
              <a:buNone/>
            </a:pPr>
            <a:endParaRPr lang="en-GB" sz="2400" dirty="0"/>
          </a:p>
          <a:p>
            <a:pPr>
              <a:lnSpc>
                <a:spcPct val="90000"/>
              </a:lnSpc>
            </a:pP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355850" y="4489306"/>
                <a:ext cx="2491708" cy="1636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charset="0"/>
                        </a:rPr>
                        <m:t>𝛬</m:t>
                      </m:r>
                      <m:r>
                        <a:rPr lang="en-GB" i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0.87</m:t>
                                </m:r>
                              </m:e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0.01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0.96</m:t>
                                </m:r>
                              </m:e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−0.03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0.92</m:t>
                                </m:r>
                              </m:e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0.04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0.00</m:t>
                                </m:r>
                              </m:e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0.82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−0.10</m:t>
                                </m:r>
                              </m:e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0.75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0.09</m:t>
                                </m:r>
                              </m:e>
                              <m:e>
                                <m:r>
                                  <a:rPr lang="en-GB" i="0">
                                    <a:latin typeface="Cambria Math" charset="0"/>
                                  </a:rPr>
                                  <m:t>0.70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50" y="4489306"/>
                <a:ext cx="2491708" cy="163685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4" grpId="0" autoUpdateAnimBg="0"/>
      <p:bldP spid="14643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Scores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i="1" dirty="0"/>
              <a:t>A factor can be described in terms of the variables measured &amp; the relative importance of them for the factor</a:t>
            </a:r>
          </a:p>
          <a:p>
            <a:r>
              <a:rPr lang="en-US" i="1" dirty="0"/>
              <a:t>Regression method is used to calculate factor scores where factor loadings are adjusted to take account of the initial correlations between variables (p.785-787). (other methods: </a:t>
            </a:r>
            <a:r>
              <a:rPr lang="en-US" i="1" dirty="0" err="1"/>
              <a:t>Barlett</a:t>
            </a:r>
            <a:r>
              <a:rPr lang="en-US" i="1" dirty="0"/>
              <a:t> and Anderson-Rubin)</a:t>
            </a:r>
            <a:endParaRPr lang="en-MY" i="1" dirty="0"/>
          </a:p>
          <a:p>
            <a:r>
              <a:rPr lang="en-US" dirty="0"/>
              <a:t>Uses of factor scores </a:t>
            </a:r>
          </a:p>
          <a:p>
            <a:pPr lvl="1"/>
            <a:r>
              <a:rPr lang="en-US" dirty="0"/>
              <a:t>Reduce a large set of data to a smaller subset of measurement variables</a:t>
            </a:r>
          </a:p>
          <a:p>
            <a:pPr lvl="1"/>
            <a:r>
              <a:rPr lang="en-US" dirty="0"/>
              <a:t>Overcoming </a:t>
            </a:r>
            <a:r>
              <a:rPr lang="en-US" dirty="0" err="1"/>
              <a:t>collinearity</a:t>
            </a:r>
            <a:r>
              <a:rPr lang="en-US" dirty="0"/>
              <a:t> problems in regression – combining those with </a:t>
            </a:r>
            <a:r>
              <a:rPr lang="en-US" dirty="0" err="1"/>
              <a:t>multicollinearity</a:t>
            </a:r>
            <a:r>
              <a:rPr lang="en-US" dirty="0"/>
              <a:t> in to a single factor</a:t>
            </a:r>
          </a:p>
        </p:txBody>
      </p:sp>
    </p:spTree>
    <p:extLst>
      <p:ext uri="{BB962C8B-B14F-4D97-AF65-F5344CB8AC3E}">
        <p14:creationId xmlns:p14="http://schemas.microsoft.com/office/powerpoint/2010/main" val="4052022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Discovering Factors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There are many methods to discovering methods:</a:t>
            </a:r>
          </a:p>
          <a:p>
            <a:pPr lvl="1"/>
            <a:r>
              <a:rPr lang="en-US" dirty="0"/>
              <a:t>Exploring data (PCA, PFA, ICA) or testing hypothesis (i.e. structural, CFA)</a:t>
            </a:r>
            <a:endParaRPr lang="en-MY" dirty="0"/>
          </a:p>
          <a:p>
            <a:r>
              <a:rPr lang="en-US" dirty="0"/>
              <a:t>Communality – the proportion of common variance (shared) present in a variable</a:t>
            </a:r>
          </a:p>
          <a:p>
            <a:pPr lvl="1"/>
            <a:r>
              <a:rPr lang="en-US" dirty="0"/>
              <a:t>Variable no specific variance – 1</a:t>
            </a:r>
          </a:p>
          <a:p>
            <a:pPr lvl="1"/>
            <a:r>
              <a:rPr lang="en-US" dirty="0"/>
              <a:t>Variable shared no variance - 0</a:t>
            </a:r>
          </a:p>
          <a:p>
            <a:pPr lvl="1"/>
            <a:r>
              <a:rPr lang="en-US" dirty="0"/>
              <a:t>In FA we are interested to find common underlying dimensions within the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857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Discovering Factors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FA</a:t>
            </a:r>
          </a:p>
          <a:p>
            <a:r>
              <a:rPr lang="en-US" dirty="0"/>
              <a:t>Derives a mathematical model from which factors are estimated</a:t>
            </a:r>
          </a:p>
          <a:p>
            <a:r>
              <a:rPr lang="en-US" dirty="0"/>
              <a:t>Only FA can estimate the underlying factors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PCA</a:t>
            </a:r>
            <a:endParaRPr lang="en-MY" dirty="0"/>
          </a:p>
          <a:p>
            <a:r>
              <a:rPr lang="en-US" dirty="0"/>
              <a:t>Decomposes the original data into a set of linear </a:t>
            </a:r>
            <a:r>
              <a:rPr lang="en-US" dirty="0" err="1"/>
              <a:t>variates</a:t>
            </a:r>
            <a:endParaRPr lang="en-US" dirty="0"/>
          </a:p>
          <a:p>
            <a:r>
              <a:rPr lang="en-US" dirty="0"/>
              <a:t>Concern only with establishing which linear component exist within the data</a:t>
            </a:r>
          </a:p>
          <a:p>
            <a:r>
              <a:rPr lang="en-US" dirty="0"/>
              <a:t>How a particular might contribute to the component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40300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 behind PCA</a:t>
            </a:r>
            <a:endParaRPr lang="en-MY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MANOVA &amp; DFA</a:t>
            </a:r>
          </a:p>
          <a:p>
            <a:r>
              <a:rPr lang="en-US" dirty="0"/>
              <a:t>Uses correlation matrices – look at whether groups could be separated by some linear combination of the DVs by calculating the eigenvectors of the SSPC</a:t>
            </a:r>
          </a:p>
          <a:p>
            <a:r>
              <a:rPr lang="en-US" dirty="0"/>
              <a:t>Retain factors with the largest eigenvalues and ignore the </a:t>
            </a:r>
            <a:r>
              <a:rPr lang="en-US"/>
              <a:t>small eigenvalues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545721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Factor Extraction: Eigenvalues &amp; Scree Plots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How do we know which eigenvalues are large enough to be a meaningful factor?</a:t>
            </a:r>
          </a:p>
          <a:p>
            <a:r>
              <a:rPr lang="en-US" dirty="0"/>
              <a:t>Plot eigenvalue against the factor – scree plot</a:t>
            </a:r>
          </a:p>
          <a:p>
            <a:r>
              <a:rPr lang="en-US" dirty="0"/>
              <a:t>Cut-off point for selecting factors – point of inflexion of the curve (where the slope of the line changes dramatically</a:t>
            </a:r>
          </a:p>
          <a:p>
            <a:r>
              <a:rPr lang="en-US" dirty="0"/>
              <a:t>Retain/extract only factors to the left of the point of inflexion (do not include the factor at point of inflexion) – use if sample size more than 200</a:t>
            </a:r>
          </a:p>
          <a:p>
            <a:r>
              <a:rPr lang="en-US" dirty="0"/>
              <a:t>retaining all eigenvalues &gt; 1 (Kaiser’s criterion) – SPSS uses this.</a:t>
            </a:r>
          </a:p>
          <a:p>
            <a:r>
              <a:rPr lang="en-US" dirty="0"/>
              <a:t>In combination look at commonalities of factors (choose those close to 1)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55563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r>
              <a:rPr lang="en-GB" dirty="0"/>
              <a:t>Discovering Statistics Using SPSS</a:t>
            </a:r>
          </a:p>
        </p:txBody>
      </p:sp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404814"/>
            <a:ext cx="8229600" cy="865187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79889" name="Picture 17" descr="15x0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1674813"/>
            <a:ext cx="6985000" cy="42021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1776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rotation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to discriminate between factors – variables are maximally loaded to only one factor.</a:t>
            </a:r>
            <a:endParaRPr lang="en-MY" dirty="0"/>
          </a:p>
        </p:txBody>
      </p:sp>
      <p:pic>
        <p:nvPicPr>
          <p:cNvPr id="4" name="Picture 17" descr="15x0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633" y="3212976"/>
            <a:ext cx="6697365" cy="351441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07568" y="350100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Orthogonal</a:t>
            </a:r>
            <a:endParaRPr lang="en-MY" dirty="0"/>
          </a:p>
        </p:txBody>
      </p:sp>
      <p:sp>
        <p:nvSpPr>
          <p:cNvPr id="6" name="TextBox 5"/>
          <p:cNvSpPr txBox="1"/>
          <p:nvPr/>
        </p:nvSpPr>
        <p:spPr>
          <a:xfrm>
            <a:off x="8616280" y="3532128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Oblique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904653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of factor rotation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Orthogonal - unrelated. Factors are kept independent (uncorrelated)</a:t>
            </a:r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Varimax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– maximize the dispersion of loadings within factors. Load a smaller number of variables highly onto each factor resulting in more interpretable clusters of factors.</a:t>
            </a:r>
          </a:p>
          <a:p>
            <a:pPr lvl="1"/>
            <a:r>
              <a:rPr lang="en-US" dirty="0" err="1"/>
              <a:t>Quartimax</a:t>
            </a:r>
            <a:r>
              <a:rPr lang="en-US" dirty="0"/>
              <a:t> – maximize the spread of factor loading for a variable across all factors</a:t>
            </a:r>
          </a:p>
          <a:p>
            <a:pPr lvl="1"/>
            <a:r>
              <a:rPr lang="en-US" dirty="0" err="1"/>
              <a:t>Equamax</a:t>
            </a:r>
            <a:r>
              <a:rPr lang="en-US" dirty="0"/>
              <a:t> – hybrid of the two</a:t>
            </a:r>
          </a:p>
          <a:p>
            <a:r>
              <a:rPr lang="en-US" dirty="0"/>
              <a:t>Oblique - factors are allowed to correlate.</a:t>
            </a:r>
          </a:p>
          <a:p>
            <a:pPr lvl="1"/>
            <a:r>
              <a:rPr lang="en-US" dirty="0"/>
              <a:t>Direct </a:t>
            </a:r>
            <a:r>
              <a:rPr lang="en-US" dirty="0" err="1"/>
              <a:t>oblimin</a:t>
            </a:r>
            <a:r>
              <a:rPr lang="en-US" dirty="0"/>
              <a:t> – degree of allowed correlation is determined by delta (a constant value)</a:t>
            </a:r>
          </a:p>
          <a:p>
            <a:pPr lvl="1"/>
            <a:r>
              <a:rPr lang="en-US" dirty="0" err="1"/>
              <a:t>Promax</a:t>
            </a:r>
            <a:r>
              <a:rPr lang="en-US" dirty="0"/>
              <a:t> – faster procedure for large data sets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13912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loadings 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Typical &gt; |0.3|</a:t>
            </a:r>
          </a:p>
          <a:p>
            <a:r>
              <a:rPr lang="en-US" dirty="0"/>
              <a:t>Stevens (2000)</a:t>
            </a:r>
          </a:p>
          <a:p>
            <a:r>
              <a:rPr lang="en-US" dirty="0"/>
              <a:t>N=50 a loading of 0.722 can be considered significant</a:t>
            </a:r>
          </a:p>
          <a:p>
            <a:r>
              <a:rPr lang="en-US" dirty="0"/>
              <a:t>N=100  &gt; 0.512</a:t>
            </a:r>
          </a:p>
          <a:p>
            <a:r>
              <a:rPr lang="en-US" dirty="0"/>
              <a:t>N=200  &gt; 0.364</a:t>
            </a:r>
          </a:p>
          <a:p>
            <a:r>
              <a:rPr lang="en-US" dirty="0"/>
              <a:t>N=300  &gt; 0.298</a:t>
            </a:r>
          </a:p>
          <a:p>
            <a:r>
              <a:rPr lang="en-US" dirty="0"/>
              <a:t>N=600  &gt; 0.21</a:t>
            </a:r>
          </a:p>
          <a:p>
            <a:r>
              <a:rPr lang="en-US" dirty="0"/>
              <a:t>N=1000  &gt;0.162</a:t>
            </a:r>
          </a:p>
          <a:p>
            <a:r>
              <a:rPr lang="en-US" dirty="0"/>
              <a:t>Squaring factor loading – amount of variance accounted for by a variable. &gt; 0.4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46130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An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22513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367589" y="342895"/>
            <a:ext cx="2808287" cy="1143000"/>
          </a:xfrm>
        </p:spPr>
        <p:txBody>
          <a:bodyPr/>
          <a:lstStyle/>
          <a:p>
            <a:r>
              <a:rPr lang="en-GB" sz="4000"/>
              <a:t>The SAQ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642" y="152396"/>
            <a:ext cx="4460413" cy="61603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7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Process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1" y="1417638"/>
            <a:ext cx="72771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55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1. Initial considerations: Sample Size</a:t>
            </a:r>
            <a:endParaRPr lang="en-GB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Sample size – how many?</a:t>
            </a:r>
          </a:p>
          <a:p>
            <a:pPr lvl="1"/>
            <a:r>
              <a:rPr lang="en-US" dirty="0"/>
              <a:t>10-15 participant per variable</a:t>
            </a:r>
          </a:p>
          <a:p>
            <a:pPr lvl="1"/>
            <a:r>
              <a:rPr lang="en-US" dirty="0"/>
              <a:t>See p. 797 (depends on factor loadings)</a:t>
            </a:r>
          </a:p>
          <a:p>
            <a:pPr lvl="1"/>
            <a:r>
              <a:rPr lang="en-US" dirty="0"/>
              <a:t>300 or more</a:t>
            </a:r>
          </a:p>
        </p:txBody>
      </p:sp>
    </p:spTree>
    <p:extLst>
      <p:ext uri="{BB962C8B-B14F-4D97-AF65-F5344CB8AC3E}">
        <p14:creationId xmlns:p14="http://schemas.microsoft.com/office/powerpoint/2010/main" val="323666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utoUpdateAnimBg="0"/>
      <p:bldP spid="148483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1. Initial considerations: Correlations between Variables</a:t>
            </a:r>
            <a:endParaRPr lang="en-GB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800" dirty="0"/>
              <a:t>The quality of analysis depends upon the quality of the data</a:t>
            </a:r>
            <a:r>
              <a:rPr lang="en-GB" sz="3600" dirty="0"/>
              <a:t> </a:t>
            </a:r>
            <a:r>
              <a:rPr lang="en-GB" sz="2800" dirty="0"/>
              <a:t>(GI</a:t>
            </a:r>
            <a:r>
              <a:rPr lang="en-GB" sz="2800" dirty="0">
                <a:sym typeface="Symbol" pitchFamily="18" charset="2"/>
              </a:rPr>
              <a:t>GO).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ym typeface="Symbol" pitchFamily="18" charset="2"/>
              </a:rPr>
              <a:t>Test variables should correlate quite well</a:t>
            </a:r>
          </a:p>
          <a:p>
            <a:pPr lvl="1">
              <a:lnSpc>
                <a:spcPct val="90000"/>
              </a:lnSpc>
            </a:pPr>
            <a:r>
              <a:rPr lang="en-GB" sz="2400" i="1" dirty="0">
                <a:sym typeface="Symbol" pitchFamily="18" charset="2"/>
              </a:rPr>
              <a:t>r</a:t>
            </a:r>
            <a:r>
              <a:rPr lang="en-GB" sz="2400" dirty="0">
                <a:sym typeface="Symbol" pitchFamily="18" charset="2"/>
              </a:rPr>
              <a:t>  &gt; 0.3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ym typeface="Symbol" pitchFamily="18" charset="2"/>
              </a:rPr>
              <a:t>Avoid </a:t>
            </a:r>
            <a:r>
              <a:rPr lang="en-GB" sz="2800" dirty="0" err="1">
                <a:sym typeface="Symbol" pitchFamily="18" charset="2"/>
              </a:rPr>
              <a:t>Multicollinearity</a:t>
            </a:r>
            <a:r>
              <a:rPr lang="en-GB" sz="2800" dirty="0">
                <a:sym typeface="Symbol" pitchFamily="18" charset="2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sym typeface="Symbol" pitchFamily="18" charset="2"/>
              </a:rPr>
              <a:t>several variables highly correlated, </a:t>
            </a:r>
            <a:r>
              <a:rPr lang="en-GB" sz="2400" i="1" dirty="0">
                <a:sym typeface="Symbol" pitchFamily="18" charset="2"/>
              </a:rPr>
              <a:t>r &gt;</a:t>
            </a:r>
            <a:r>
              <a:rPr lang="en-GB" sz="2400" dirty="0">
                <a:sym typeface="Symbol" pitchFamily="18" charset="2"/>
              </a:rPr>
              <a:t> 0.80</a:t>
            </a:r>
          </a:p>
          <a:p>
            <a:pPr>
              <a:lnSpc>
                <a:spcPct val="90000"/>
              </a:lnSpc>
            </a:pPr>
            <a:r>
              <a:rPr lang="en-GB" sz="2800" dirty="0">
                <a:sym typeface="Symbol" pitchFamily="18" charset="2"/>
              </a:rPr>
              <a:t>Avoid Singularity:</a:t>
            </a:r>
          </a:p>
          <a:p>
            <a:pPr lvl="1">
              <a:lnSpc>
                <a:spcPct val="90000"/>
              </a:lnSpc>
            </a:pPr>
            <a:r>
              <a:rPr lang="en-GB" sz="2400" dirty="0">
                <a:sym typeface="Symbol" pitchFamily="18" charset="2"/>
              </a:rPr>
              <a:t>some variables perfectly correlated, </a:t>
            </a:r>
            <a:r>
              <a:rPr lang="en-GB" sz="2400" i="1" dirty="0">
                <a:sym typeface="Symbol" pitchFamily="18" charset="2"/>
              </a:rPr>
              <a:t>r</a:t>
            </a:r>
            <a:r>
              <a:rPr lang="en-GB" sz="2400" dirty="0">
                <a:sym typeface="Symbol" pitchFamily="18" charset="2"/>
              </a:rPr>
              <a:t> = 1.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Screen the correlation matrix, eliminate any variables that obviously cause concern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8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8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48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utoUpdateAnimBg="0"/>
      <p:bldP spid="14848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1. Initial considerations: Distribution of Data</a:t>
            </a:r>
            <a:endParaRPr lang="en-GB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distribution of data – assumption of normality important for generalization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76593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8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utoUpdateAnimBg="0"/>
      <p:bldP spid="148483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 Analysis on SPSS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 err="1"/>
              <a:t>SAQ.sav</a:t>
            </a:r>
            <a:endParaRPr lang="en-US" dirty="0"/>
          </a:p>
          <a:p>
            <a:r>
              <a:rPr lang="en-US" dirty="0"/>
              <a:t>Preliminary Analysis</a:t>
            </a:r>
          </a:p>
          <a:p>
            <a:r>
              <a:rPr lang="en-US" dirty="0"/>
              <a:t>Factor extraction</a:t>
            </a:r>
          </a:p>
          <a:p>
            <a:r>
              <a:rPr lang="en-US" dirty="0"/>
              <a:t>Factor Rotation</a:t>
            </a:r>
          </a:p>
          <a:p>
            <a:r>
              <a:rPr lang="en-US" dirty="0"/>
              <a:t>Factor Scores</a:t>
            </a:r>
          </a:p>
          <a:p>
            <a:r>
              <a:rPr lang="en-US" dirty="0"/>
              <a:t>Options</a:t>
            </a:r>
          </a:p>
        </p:txBody>
      </p:sp>
    </p:spTree>
    <p:extLst>
      <p:ext uri="{BB962C8B-B14F-4D97-AF65-F5344CB8AC3E}">
        <p14:creationId xmlns:p14="http://schemas.microsoft.com/office/powerpoint/2010/main" val="3279786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considerations</a:t>
            </a:r>
            <a:endParaRPr lang="en-US" dirty="0"/>
          </a:p>
        </p:txBody>
      </p:sp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Determinant: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Indicator of multicollinearity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should be greater than 0.00001</a:t>
            </a:r>
          </a:p>
          <a:p>
            <a:pPr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Kaiser-Meyer-</a:t>
            </a:r>
            <a:r>
              <a:rPr lang="en-GB" dirty="0" err="1">
                <a:sym typeface="Symbol" pitchFamily="18" charset="2"/>
              </a:rPr>
              <a:t>Olkin</a:t>
            </a:r>
            <a:r>
              <a:rPr lang="en-GB" dirty="0">
                <a:sym typeface="Symbol" pitchFamily="18" charset="2"/>
              </a:rPr>
              <a:t> (KMO):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Measures sampling adequacy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should be greater than 0.5</a:t>
            </a:r>
          </a:p>
          <a:p>
            <a:pPr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Bartlett’s Test of </a:t>
            </a:r>
            <a:r>
              <a:rPr lang="en-GB" dirty="0" err="1">
                <a:sym typeface="Symbol" pitchFamily="18" charset="2"/>
              </a:rPr>
              <a:t>Sphericity</a:t>
            </a:r>
            <a:endParaRPr lang="en-GB" dirty="0">
              <a:sym typeface="Symbol" pitchFamily="18" charset="2"/>
            </a:endParaRP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Tests whether the R-matrix is an identity matrix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should be significant at </a:t>
            </a:r>
            <a:r>
              <a:rPr lang="en-GB" i="1" dirty="0">
                <a:sym typeface="Symbol" pitchFamily="18" charset="2"/>
              </a:rPr>
              <a:t>p</a:t>
            </a:r>
            <a:r>
              <a:rPr lang="en-GB" dirty="0">
                <a:sym typeface="Symbol" pitchFamily="18" charset="2"/>
              </a:rPr>
              <a:t> &lt; 0.05</a:t>
            </a:r>
          </a:p>
          <a:p>
            <a:pPr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Anti-Image Matrix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Measures of sampling adequacy on diagonal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Off-diagonal elements should be small</a:t>
            </a:r>
          </a:p>
          <a:p>
            <a:pPr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Reproduced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Correlation matrix after rotation</a:t>
            </a:r>
          </a:p>
          <a:p>
            <a:pPr lvl="1">
              <a:lnSpc>
                <a:spcPct val="80000"/>
              </a:lnSpc>
            </a:pPr>
            <a:r>
              <a:rPr lang="en-GB" dirty="0">
                <a:sym typeface="Symbol" pitchFamily="18" charset="2"/>
              </a:rPr>
              <a:t>Most residuals should be &lt; |0.05|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2a. Factor Extraction</a:t>
            </a:r>
            <a:br>
              <a:rPr lang="en-GB" dirty="0"/>
            </a:br>
            <a:r>
              <a:rPr lang="en-GB" dirty="0"/>
              <a:t>Finding factors: Communality</a:t>
            </a:r>
            <a:endParaRPr lang="en-GB" sz="4000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Common variance:</a:t>
            </a:r>
          </a:p>
          <a:p>
            <a:pPr lvl="1"/>
            <a:r>
              <a:rPr lang="en-GB" sz="2400" dirty="0"/>
              <a:t>Variance that a variable shares with other variables.</a:t>
            </a:r>
          </a:p>
          <a:p>
            <a:r>
              <a:rPr lang="en-GB" sz="2800" dirty="0"/>
              <a:t>Unique variance</a:t>
            </a:r>
            <a:r>
              <a:rPr lang="en-GB" sz="2800" b="1" dirty="0"/>
              <a:t>:</a:t>
            </a:r>
          </a:p>
          <a:p>
            <a:pPr lvl="1"/>
            <a:r>
              <a:rPr lang="en-GB" sz="2400" dirty="0"/>
              <a:t>Variance that is unique to a particular variable</a:t>
            </a:r>
            <a:r>
              <a:rPr lang="en-GB" sz="2400" b="1" dirty="0"/>
              <a:t>.</a:t>
            </a:r>
          </a:p>
          <a:p>
            <a:r>
              <a:rPr lang="en-GB" sz="2800" dirty="0"/>
              <a:t>The proportion of common variance in a variable is called the communality</a:t>
            </a:r>
            <a:endParaRPr lang="en-GB" sz="2800" b="1" dirty="0"/>
          </a:p>
          <a:p>
            <a:pPr lvl="1">
              <a:buClr>
                <a:schemeClr val="tx2"/>
              </a:buClr>
              <a:buFontTx/>
              <a:buChar char="•"/>
            </a:pPr>
            <a:r>
              <a:rPr lang="en-GB" sz="2400" dirty="0"/>
              <a:t>Communality = 1, All variance shared.</a:t>
            </a:r>
          </a:p>
          <a:p>
            <a:pPr lvl="1">
              <a:buClr>
                <a:schemeClr val="tx2"/>
              </a:buClr>
              <a:buFontTx/>
              <a:buChar char="•"/>
            </a:pPr>
            <a:r>
              <a:rPr lang="en-GB" sz="2400" dirty="0"/>
              <a:t>Communality = 0, No variance shared.</a:t>
            </a:r>
          </a:p>
          <a:p>
            <a:pPr lvl="1">
              <a:buClr>
                <a:schemeClr val="tx2"/>
              </a:buClr>
              <a:buFontTx/>
              <a:buChar char="•"/>
            </a:pPr>
            <a:r>
              <a:rPr lang="en-GB" sz="2400" dirty="0"/>
              <a:t>0 &lt; Communality &lt; 1 = Some variance shared.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51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4" grpId="0" autoUpdateAnimBg="0"/>
      <p:bldP spid="151555" grpId="0" build="p" bldLvl="2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Oval 2"/>
          <p:cNvSpPr>
            <a:spLocks noChangeArrowheads="1"/>
          </p:cNvSpPr>
          <p:nvPr/>
        </p:nvSpPr>
        <p:spPr bwMode="auto">
          <a:xfrm>
            <a:off x="3736976" y="1092201"/>
            <a:ext cx="3565525" cy="32940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3600">
                <a:solidFill>
                  <a:schemeClr val="accent2"/>
                </a:solidFill>
                <a:latin typeface="Trebuchet MS" pitchFamily="34" charset="0"/>
              </a:rPr>
              <a:t>Variance of</a:t>
            </a:r>
          </a:p>
          <a:p>
            <a:pPr algn="ctr" eaLnBrk="0" hangingPunct="0"/>
            <a:r>
              <a:rPr lang="en-US" sz="3600">
                <a:solidFill>
                  <a:schemeClr val="accent2"/>
                </a:solidFill>
                <a:latin typeface="Trebuchet MS" pitchFamily="34" charset="0"/>
              </a:rPr>
              <a:t>Variable 1</a:t>
            </a:r>
          </a:p>
        </p:txBody>
      </p:sp>
      <p:sp>
        <p:nvSpPr>
          <p:cNvPr id="152579" name="Oval 3"/>
          <p:cNvSpPr>
            <a:spLocks noChangeArrowheads="1"/>
          </p:cNvSpPr>
          <p:nvPr/>
        </p:nvSpPr>
        <p:spPr bwMode="auto">
          <a:xfrm>
            <a:off x="2709864" y="1262063"/>
            <a:ext cx="3127375" cy="3448050"/>
          </a:xfrm>
          <a:prstGeom prst="ellipse">
            <a:avLst/>
          </a:prstGeom>
          <a:solidFill>
            <a:schemeClr val="accent2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3600">
                <a:latin typeface="Trebuchet MS" pitchFamily="34" charset="0"/>
              </a:rPr>
              <a:t>Variance of</a:t>
            </a:r>
          </a:p>
          <a:p>
            <a:pPr algn="ctr" eaLnBrk="0" hangingPunct="0"/>
            <a:r>
              <a:rPr lang="en-US" sz="3600">
                <a:latin typeface="Trebuchet MS" pitchFamily="34" charset="0"/>
              </a:rPr>
              <a:t>Variable 2</a:t>
            </a:r>
            <a:endParaRPr lang="en-US" sz="3600">
              <a:solidFill>
                <a:schemeClr val="accent2"/>
              </a:solidFill>
              <a:latin typeface="Trebuchet MS" pitchFamily="34" charset="0"/>
            </a:endParaRPr>
          </a:p>
        </p:txBody>
      </p:sp>
      <p:sp>
        <p:nvSpPr>
          <p:cNvPr id="152580" name="Oval 4"/>
          <p:cNvSpPr>
            <a:spLocks noChangeArrowheads="1"/>
          </p:cNvSpPr>
          <p:nvPr/>
        </p:nvSpPr>
        <p:spPr bwMode="auto">
          <a:xfrm>
            <a:off x="3719514" y="908051"/>
            <a:ext cx="4632325" cy="3706813"/>
          </a:xfrm>
          <a:prstGeom prst="ellipse">
            <a:avLst/>
          </a:prstGeom>
          <a:solidFill>
            <a:srgbClr val="FF33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3600">
                <a:solidFill>
                  <a:schemeClr val="bg1"/>
                </a:solidFill>
                <a:latin typeface="Trebuchet MS" pitchFamily="34" charset="0"/>
              </a:rPr>
              <a:t>Variance of</a:t>
            </a:r>
          </a:p>
          <a:p>
            <a:pPr algn="ctr" eaLnBrk="0" hangingPunct="0"/>
            <a:r>
              <a:rPr lang="en-US" sz="3600">
                <a:solidFill>
                  <a:schemeClr val="bg1"/>
                </a:solidFill>
                <a:latin typeface="Trebuchet MS" pitchFamily="34" charset="0"/>
              </a:rPr>
              <a:t>Variable 3</a:t>
            </a:r>
          </a:p>
        </p:txBody>
      </p:sp>
      <p:sp>
        <p:nvSpPr>
          <p:cNvPr id="152581" name="Oval 5"/>
          <p:cNvSpPr>
            <a:spLocks noChangeArrowheads="1"/>
          </p:cNvSpPr>
          <p:nvPr/>
        </p:nvSpPr>
        <p:spPr bwMode="auto">
          <a:xfrm>
            <a:off x="7256464" y="3895726"/>
            <a:ext cx="3030537" cy="2074863"/>
          </a:xfrm>
          <a:prstGeom prst="ellipse">
            <a:avLst/>
          </a:prstGeom>
          <a:solidFill>
            <a:schemeClr val="tx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3600">
                <a:solidFill>
                  <a:schemeClr val="bg1"/>
                </a:solidFill>
                <a:latin typeface="Trebuchet MS" pitchFamily="34" charset="0"/>
              </a:rPr>
              <a:t>Variance of</a:t>
            </a:r>
          </a:p>
          <a:p>
            <a:pPr algn="ctr" eaLnBrk="0" hangingPunct="0"/>
            <a:r>
              <a:rPr lang="en-US" sz="3600">
                <a:solidFill>
                  <a:schemeClr val="bg1"/>
                </a:solidFill>
                <a:latin typeface="Trebuchet MS" pitchFamily="34" charset="0"/>
              </a:rPr>
              <a:t>Variable 4</a:t>
            </a:r>
          </a:p>
        </p:txBody>
      </p:sp>
      <p:sp>
        <p:nvSpPr>
          <p:cNvPr id="152582" name="Text Box 6"/>
          <p:cNvSpPr txBox="1">
            <a:spLocks noChangeArrowheads="1"/>
          </p:cNvSpPr>
          <p:nvPr/>
        </p:nvSpPr>
        <p:spPr bwMode="auto">
          <a:xfrm>
            <a:off x="8113714" y="327026"/>
            <a:ext cx="2097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2000">
                <a:solidFill>
                  <a:schemeClr val="accent2"/>
                </a:solidFill>
                <a:latin typeface="Trebuchet MS" pitchFamily="34" charset="0"/>
              </a:rPr>
              <a:t>Communality = 1</a:t>
            </a:r>
          </a:p>
        </p:txBody>
      </p:sp>
      <p:sp>
        <p:nvSpPr>
          <p:cNvPr id="152583" name="Line 7"/>
          <p:cNvSpPr>
            <a:spLocks noChangeShapeType="1"/>
          </p:cNvSpPr>
          <p:nvPr/>
        </p:nvSpPr>
        <p:spPr bwMode="auto">
          <a:xfrm flipH="1">
            <a:off x="6243639" y="665164"/>
            <a:ext cx="1946275" cy="1177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8620125" y="2092326"/>
            <a:ext cx="20970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en-GB" sz="2000">
                <a:solidFill>
                  <a:schemeClr val="accent2"/>
                </a:solidFill>
                <a:latin typeface="Trebuchet MS" pitchFamily="34" charset="0"/>
              </a:rPr>
              <a:t>Communality</a:t>
            </a:r>
            <a:r>
              <a:rPr lang="en-GB" sz="200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 = 0</a:t>
            </a:r>
          </a:p>
        </p:txBody>
      </p:sp>
      <p:sp>
        <p:nvSpPr>
          <p:cNvPr id="152585" name="Line 9"/>
          <p:cNvSpPr>
            <a:spLocks noChangeShapeType="1"/>
          </p:cNvSpPr>
          <p:nvPr/>
        </p:nvSpPr>
        <p:spPr bwMode="auto">
          <a:xfrm flipH="1">
            <a:off x="8818563" y="2460625"/>
            <a:ext cx="487362" cy="1530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52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animBg="1" autoUpdateAnimBg="0"/>
      <p:bldP spid="152579" grpId="0" animBg="1" autoUpdateAnimBg="0"/>
      <p:bldP spid="152580" grpId="0" animBg="1" autoUpdateAnimBg="0"/>
      <p:bldP spid="152581" grpId="0" animBg="1" autoUpdateAnimBg="0"/>
      <p:bldP spid="152582" grpId="0"/>
      <p:bldP spid="152583" grpId="0" animBg="1"/>
      <p:bldP spid="152584" grpId="0"/>
      <p:bldP spid="15258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Finding</a:t>
            </a:r>
            <a:r>
              <a:rPr lang="en-GB" sz="4800" b="1" dirty="0"/>
              <a:t> </a:t>
            </a:r>
            <a:r>
              <a:rPr lang="en-GB" sz="4800" dirty="0"/>
              <a:t>factors</a:t>
            </a:r>
            <a:endParaRPr lang="en-GB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We find factors by calculating the amount of common variance</a:t>
            </a:r>
          </a:p>
          <a:p>
            <a:pPr lvl="1"/>
            <a:r>
              <a:rPr lang="en-GB" dirty="0"/>
              <a:t>Circularity</a:t>
            </a:r>
          </a:p>
          <a:p>
            <a:r>
              <a:rPr lang="en-GB" dirty="0"/>
              <a:t>Principal components analysis:</a:t>
            </a:r>
          </a:p>
          <a:p>
            <a:pPr lvl="1"/>
            <a:r>
              <a:rPr lang="en-GB" dirty="0"/>
              <a:t>Assume all variance is shared</a:t>
            </a:r>
          </a:p>
          <a:p>
            <a:pPr lvl="1"/>
            <a:r>
              <a:rPr lang="en-GB" dirty="0"/>
              <a:t>All Communalities = 1</a:t>
            </a:r>
          </a:p>
          <a:p>
            <a:r>
              <a:rPr lang="en-GB" dirty="0"/>
              <a:t>Factor Analysis</a:t>
            </a:r>
          </a:p>
          <a:p>
            <a:pPr lvl="1"/>
            <a:r>
              <a:rPr lang="en-GB" dirty="0"/>
              <a:t>Estimate Communality</a:t>
            </a:r>
          </a:p>
          <a:p>
            <a:pPr lvl="1"/>
            <a:r>
              <a:rPr lang="en-GB" dirty="0"/>
              <a:t>Use squared multiple correlation (SMC)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3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3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3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2" grpId="0" autoUpdateAnimBg="0"/>
      <p:bldP spid="153603" grpId="0" build="p" bldLvl="2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538" y="1092180"/>
            <a:ext cx="5652244" cy="49961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2a. Factor Extraction</a:t>
            </a:r>
            <a:endParaRPr lang="en-GB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Kaiser’s extraction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Kaiser (1960): retain factors with </a:t>
            </a:r>
            <a:r>
              <a:rPr lang="en-US" sz="2400" dirty="0" err="1"/>
              <a:t>eigen</a:t>
            </a:r>
            <a:r>
              <a:rPr lang="en-US" sz="2400" dirty="0"/>
              <a:t> values &gt; 1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Scree plot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Cattell (1966): use ‘point of inflexion’ of the scree plot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Which rule?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Use </a:t>
            </a:r>
            <a:r>
              <a:rPr lang="en-US" sz="2400" dirty="0" err="1"/>
              <a:t>kaiser’s</a:t>
            </a:r>
            <a:r>
              <a:rPr lang="en-US" sz="2400" dirty="0"/>
              <a:t> extraction when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Less than 30 variables, communalities after extraction &gt; 0.7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Sample size &gt; 250 and mean communality </a:t>
            </a:r>
            <a:r>
              <a:rPr lang="en-US" sz="2000" dirty="0">
                <a:cs typeface="Arial" charset="0"/>
              </a:rPr>
              <a:t>≥</a:t>
            </a:r>
            <a:r>
              <a:rPr lang="en-US" sz="2000" dirty="0"/>
              <a:t> 0.6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Scree plot is good if sample size is &gt; 200</a:t>
            </a:r>
            <a:endParaRPr lang="en-GB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64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6" grpId="0" autoUpdateAnimBg="0"/>
      <p:bldP spid="164867" grpId="0" build="p" bldLvl="2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749" y="965209"/>
            <a:ext cx="7483792" cy="49891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scree plot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716" y="1574800"/>
            <a:ext cx="6742684" cy="44951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2b. Rotation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To aid interpretation it is possible to maximise the loading of a variable on one factor while minimising its loading on all other factors</a:t>
            </a:r>
          </a:p>
          <a:p>
            <a:r>
              <a:rPr lang="en-GB" dirty="0"/>
              <a:t>This is known as Factor Rotation</a:t>
            </a:r>
          </a:p>
          <a:p>
            <a:r>
              <a:rPr lang="en-GB" dirty="0"/>
              <a:t>There are two types:</a:t>
            </a:r>
          </a:p>
          <a:p>
            <a:pPr lvl="1"/>
            <a:r>
              <a:rPr lang="en-GB" dirty="0"/>
              <a:t>Orthogonal (factors are uncorrelated)</a:t>
            </a:r>
          </a:p>
          <a:p>
            <a:pPr lvl="1"/>
            <a:r>
              <a:rPr lang="en-GB" dirty="0"/>
              <a:t>Oblique (factors correlate)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autoUpdateAnimBg="0"/>
      <p:bldP spid="157699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34" name="Rectangle 14"/>
          <p:cNvSpPr>
            <a:spLocks noChangeArrowheads="1"/>
          </p:cNvSpPr>
          <p:nvPr/>
        </p:nvSpPr>
        <p:spPr bwMode="auto">
          <a:xfrm>
            <a:off x="3111500" y="196850"/>
            <a:ext cx="36576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GB" sz="3200" dirty="0">
                <a:solidFill>
                  <a:schemeClr val="accent4">
                    <a:lumMod val="75000"/>
                  </a:schemeClr>
                </a:solidFill>
              </a:rPr>
              <a:t>Orthogonal</a:t>
            </a:r>
          </a:p>
        </p:txBody>
      </p:sp>
      <p:sp>
        <p:nvSpPr>
          <p:cNvPr id="158735" name="Rectangle 15"/>
          <p:cNvSpPr>
            <a:spLocks noChangeArrowheads="1"/>
          </p:cNvSpPr>
          <p:nvPr/>
        </p:nvSpPr>
        <p:spPr bwMode="auto">
          <a:xfrm>
            <a:off x="6769101" y="196850"/>
            <a:ext cx="3640139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hangingPunct="0"/>
            <a:r>
              <a:rPr lang="en-GB" sz="3200">
                <a:solidFill>
                  <a:schemeClr val="accent4">
                    <a:lumMod val="75000"/>
                  </a:schemeClr>
                </a:solidFill>
              </a:rPr>
              <a:t>Oblique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09826" y="1428353"/>
            <a:ext cx="7999413" cy="3999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34" grpId="0" autoUpdateAnimBg="0"/>
      <p:bldP spid="158735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Before rotation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33"/>
          <a:stretch/>
        </p:blipFill>
        <p:spPr>
          <a:xfrm>
            <a:off x="4766760" y="1168380"/>
            <a:ext cx="3344282" cy="49961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Orthogonal rotation (</a:t>
            </a:r>
            <a:r>
              <a:rPr lang="en-GB" dirty="0" err="1"/>
              <a:t>varimax</a:t>
            </a:r>
            <a:r>
              <a:rPr lang="en-GB" dirty="0"/>
              <a:t>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4913" y="1600196"/>
            <a:ext cx="6355020" cy="475068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Oblique rotation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238" y="1308091"/>
            <a:ext cx="6678488" cy="499033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3. Reliability</a:t>
            </a:r>
            <a:endParaRPr lang="en-GB" dirty="0"/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sz="2400"/>
              <a:t>Test-Retest Method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What about practice effects/mood states?</a:t>
            </a:r>
          </a:p>
          <a:p>
            <a:pPr>
              <a:lnSpc>
                <a:spcPct val="90000"/>
              </a:lnSpc>
            </a:pPr>
            <a:r>
              <a:rPr lang="en-GB" sz="2400"/>
              <a:t>Alternate Form Method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Expensive and Impractical</a:t>
            </a:r>
          </a:p>
          <a:p>
            <a:pPr>
              <a:lnSpc>
                <a:spcPct val="90000"/>
              </a:lnSpc>
            </a:pPr>
            <a:r>
              <a:rPr lang="en-GB" sz="2400"/>
              <a:t>Split-Half Method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Splits the questionnaire into two random halves, calculates scores and correlates them.</a:t>
            </a:r>
          </a:p>
          <a:p>
            <a:pPr>
              <a:lnSpc>
                <a:spcPct val="90000"/>
              </a:lnSpc>
            </a:pPr>
            <a:r>
              <a:rPr lang="en-GB" sz="2400"/>
              <a:t>Cronbach’s Alpha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Splits the questionnaire into all possible halves, calculates the scores, correlates them and averages the correlation for all splits (well, sort of …).</a:t>
            </a:r>
          </a:p>
          <a:p>
            <a:pPr lvl="1">
              <a:lnSpc>
                <a:spcPct val="90000"/>
              </a:lnSpc>
            </a:pPr>
            <a:r>
              <a:rPr lang="en-GB" sz="2000"/>
              <a:t>Ranges from 0 (no reliability) to 1 (complete reliability)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3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3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3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3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3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8" grpId="0" autoUpdateAnimBg="0"/>
      <p:bldP spid="183299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/>
              <a:t>Cronbach’s alpha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829311" y="2529831"/>
                <a:ext cx="4708148" cy="12739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charset="0"/>
                        </a:rPr>
                        <m:t>𝛼</m:t>
                      </m:r>
                      <m:r>
                        <a:rPr lang="en-GB" sz="320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GB" sz="3200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nor/>
                                </m:rPr>
                                <a:rPr lang="en-GB" sz="3200" i="1">
                                  <a:latin typeface="Cambria Math" charset="0"/>
                                </a:rPr>
                                <m:t>cov</m:t>
                              </m:r>
                            </m:e>
                          </m:acc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3200" i="1">
                                      <a:latin typeface="Cambria Math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GB" sz="3200" i="1">
                                      <a:latin typeface="Cambria Math" charset="0"/>
                                    </a:rPr>
                                    <m:t>item</m:t>
                                  </m:r>
                                </m:sub>
                                <m:sup>
                                  <m:r>
                                    <a:rPr lang="en-GB" sz="320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GB" sz="3200">
                              <a:latin typeface="Cambria Math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GB" sz="3200" i="1">
                                      <a:latin typeface="Cambria Math" charset="0"/>
                                    </a:rPr>
                                    <m:t>cov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GB" sz="3200" i="1">
                                      <a:latin typeface="Cambria Math" charset="0"/>
                                    </a:rPr>
                                    <m:t>item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311" y="2529831"/>
                <a:ext cx="4708148" cy="12739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Interpreting Cronbach’s alpha</a:t>
            </a:r>
            <a:endParaRPr lang="en-GB" sz="3600" dirty="0"/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GB" sz="2800" dirty="0"/>
              <a:t>Kline (1999)</a:t>
            </a:r>
          </a:p>
          <a:p>
            <a:pPr lvl="1"/>
            <a:r>
              <a:rPr lang="en-GB" sz="2400" dirty="0"/>
              <a:t>Reliable if </a:t>
            </a:r>
            <a:r>
              <a:rPr lang="el-GR" sz="2400" i="1" dirty="0"/>
              <a:t>α</a:t>
            </a:r>
            <a:r>
              <a:rPr lang="en-GB" sz="2400" dirty="0"/>
              <a:t> &gt; 0.7</a:t>
            </a:r>
          </a:p>
          <a:p>
            <a:r>
              <a:rPr lang="en-GB" sz="2800" dirty="0"/>
              <a:t>Depends on the number of items</a:t>
            </a:r>
          </a:p>
          <a:p>
            <a:pPr lvl="1"/>
            <a:r>
              <a:rPr lang="en-GB" sz="2400" dirty="0"/>
              <a:t>More questions = bigger </a:t>
            </a:r>
            <a:r>
              <a:rPr lang="el-GR" sz="2400" dirty="0"/>
              <a:t>α</a:t>
            </a:r>
            <a:endParaRPr lang="en-GB" sz="2400" dirty="0"/>
          </a:p>
          <a:p>
            <a:r>
              <a:rPr lang="en-GB" sz="2800" dirty="0"/>
              <a:t>Treat Subscales separately</a:t>
            </a:r>
          </a:p>
          <a:p>
            <a:r>
              <a:rPr lang="en-GB" sz="2800" dirty="0"/>
              <a:t>Remember to reverse score reverse phrased items!</a:t>
            </a:r>
          </a:p>
          <a:p>
            <a:pPr lvl="1"/>
            <a:r>
              <a:rPr lang="en-GB" sz="2400" dirty="0"/>
              <a:t>If not, </a:t>
            </a:r>
            <a:r>
              <a:rPr lang="el-GR" sz="2400" i="1" dirty="0"/>
              <a:t>α</a:t>
            </a:r>
            <a:r>
              <a:rPr lang="en-GB" sz="2400" dirty="0"/>
              <a:t> is reduced and can even be negative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4" grpId="0" autoUpdateAnimBg="0"/>
      <p:bldP spid="187395" grpId="0" build="p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Reliability for fear of computers subscale</a:t>
            </a:r>
            <a:endParaRPr lang="en-US" sz="4000" dirty="0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524000" y="13202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2" y="1692276"/>
            <a:ext cx="7679197" cy="39465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Reliability for fear of statistics subscale</a:t>
            </a:r>
            <a:endParaRPr lang="en-US" sz="4000" dirty="0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524000" y="16346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389" y="1819276"/>
            <a:ext cx="7685024" cy="31671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6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Reliability for fear of maths subscale</a:t>
            </a:r>
            <a:endParaRPr lang="en-US" sz="4000" dirty="0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524000" y="16346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1524000" y="11964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31" y="2247900"/>
            <a:ext cx="7578548" cy="2911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7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Reliability for the peer evaluation subscale</a:t>
            </a:r>
            <a:endParaRPr lang="en-US" sz="4000" dirty="0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1524000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1524000" y="116788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00" y="2277991"/>
            <a:ext cx="7719568" cy="29598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0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end?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/>
              <a:t>Describe Factor Structure/Reliability</a:t>
            </a:r>
          </a:p>
          <a:p>
            <a:r>
              <a:rPr lang="en-GB" sz="2800"/>
              <a:t>What items should be retained?</a:t>
            </a:r>
          </a:p>
          <a:p>
            <a:pPr lvl="1"/>
            <a:r>
              <a:rPr lang="en-GB" sz="2400"/>
              <a:t>What items did you eliminate and why?</a:t>
            </a:r>
          </a:p>
          <a:p>
            <a:r>
              <a:rPr lang="en-GB" sz="2800"/>
              <a:t>Application</a:t>
            </a:r>
          </a:p>
          <a:p>
            <a:pPr lvl="1"/>
            <a:r>
              <a:rPr lang="en-GB" sz="2400"/>
              <a:t>Where will your questionnaire be used?</a:t>
            </a:r>
          </a:p>
          <a:p>
            <a:pPr lvl="1"/>
            <a:r>
              <a:rPr lang="en-GB" sz="2400"/>
              <a:t>How does it fit in with psychological theory?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4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2" grpId="0" autoUpdateAnimBg="0"/>
      <p:bldP spid="194563" grpId="0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The 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39381870"/>
      </p:ext>
    </p:extLst>
  </p:cSld>
  <p:clrMapOvr>
    <a:masterClrMapping/>
  </p:clrMapOvr>
</p:sld>
</file>

<file path=ppt/theme/theme1.xml><?xml version="1.0" encoding="utf-8"?>
<a:theme xmlns:a="http://schemas.openxmlformats.org/drawingml/2006/main" name="DSUS5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pecial Anim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pecial Anim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pecial Anim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pecial Anim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pecial Anim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pecial Anim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pecial Anim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pecial Anim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pecial Anim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pecial Anim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pecial Anim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pecial Anim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US5" id="{562B7864-46E0-C641-B8BD-B8D809F03F41}" vid="{E3D78CAB-0EB1-CC44-8A77-CE5121798B9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DiscStat Lecture.potx</Template>
  <TotalTime>3610</TotalTime>
  <Words>1860</Words>
  <Application>Microsoft Office PowerPoint</Application>
  <PresentationFormat>Widescreen</PresentationFormat>
  <Paragraphs>428</Paragraphs>
  <Slides>49</Slides>
  <Notes>36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DSUS5</vt:lpstr>
      <vt:lpstr>Chapter 18: Exploratory factor analysis</vt:lpstr>
      <vt:lpstr>Aims</vt:lpstr>
      <vt:lpstr>What is Factor Analysis?</vt:lpstr>
      <vt:lpstr>When and Why?</vt:lpstr>
      <vt:lpstr>When and Why?</vt:lpstr>
      <vt:lpstr>Factors and components</vt:lpstr>
      <vt:lpstr>R-Matrix</vt:lpstr>
      <vt:lpstr>Graphical representation</vt:lpstr>
      <vt:lpstr>Mathematical representation: components</vt:lpstr>
      <vt:lpstr>Mathematical representation: factors</vt:lpstr>
      <vt:lpstr>Factor Loadings</vt:lpstr>
      <vt:lpstr>Factor Scores</vt:lpstr>
      <vt:lpstr>Discovering Factors</vt:lpstr>
      <vt:lpstr>Discovering Factors</vt:lpstr>
      <vt:lpstr>Theory behind PCA</vt:lpstr>
      <vt:lpstr>Factor Extraction: Eigenvalues &amp; Scree Plots</vt:lpstr>
      <vt:lpstr>PowerPoint Presentation</vt:lpstr>
      <vt:lpstr>Factor rotation</vt:lpstr>
      <vt:lpstr>Method of factor rotation</vt:lpstr>
      <vt:lpstr>Factor loadings </vt:lpstr>
      <vt:lpstr>An Example</vt:lpstr>
      <vt:lpstr>The SAQ</vt:lpstr>
      <vt:lpstr>The Process</vt:lpstr>
      <vt:lpstr>1. Initial considerations: Sample Size</vt:lpstr>
      <vt:lpstr>1. Initial considerations: Correlations between Variables</vt:lpstr>
      <vt:lpstr>1. Initial considerations: Distribution of Data</vt:lpstr>
      <vt:lpstr>Factor Analysis on SPSS</vt:lpstr>
      <vt:lpstr>Further considerations</vt:lpstr>
      <vt:lpstr>2a. Factor Extraction Finding factors: Communality</vt:lpstr>
      <vt:lpstr>PowerPoint Presentation</vt:lpstr>
      <vt:lpstr>Finding factors</vt:lpstr>
      <vt:lpstr>PowerPoint Presentation</vt:lpstr>
      <vt:lpstr>2a. Factor Extraction</vt:lpstr>
      <vt:lpstr>PowerPoint Presentation</vt:lpstr>
      <vt:lpstr>The scree plot</vt:lpstr>
      <vt:lpstr>2b. Rotation</vt:lpstr>
      <vt:lpstr>PowerPoint Presentation</vt:lpstr>
      <vt:lpstr>Before rotation</vt:lpstr>
      <vt:lpstr>Orthogonal rotation (varimax)</vt:lpstr>
      <vt:lpstr>Oblique rotation</vt:lpstr>
      <vt:lpstr>3. Reliability</vt:lpstr>
      <vt:lpstr>Cronbach’s alpha</vt:lpstr>
      <vt:lpstr>Interpreting Cronbach’s alpha</vt:lpstr>
      <vt:lpstr>Reliability for fear of computers subscale</vt:lpstr>
      <vt:lpstr>Reliability for fear of statistics subscale</vt:lpstr>
      <vt:lpstr>Reliability for fear of maths subscale</vt:lpstr>
      <vt:lpstr>Reliability for the peer evaluation subscale</vt:lpstr>
      <vt:lpstr>The end?</vt:lpstr>
      <vt:lpstr>The End</vt:lpstr>
    </vt:vector>
  </TitlesOfParts>
  <Company>University of Sussex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 Andy Field</dc:creator>
  <cp:lastModifiedBy>Assoc. Prof. Dr Lin Mei-Hua</cp:lastModifiedBy>
  <cp:revision>140</cp:revision>
  <dcterms:created xsi:type="dcterms:W3CDTF">2010-10-05T07:56:41Z</dcterms:created>
  <dcterms:modified xsi:type="dcterms:W3CDTF">2026-08-19T21:16:13Z</dcterms:modified>
</cp:coreProperties>
</file>